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7FA"/>
                </a:solidFill>
              </a:defRPr>
            </a:pPr>
            <a:r>
              <a:t>ONLINE RETAIL II —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63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091EB"/>
                </a:solidFill>
              </a:defRPr>
            </a:pPr>
            <a:r>
              <a:t>Data Analyst Assessment | VirtuBox Infotech</a:t>
            </a:r>
          </a:p>
          <a:p>
            <a:pPr algn="ctr">
              <a:defRPr sz="1500">
                <a:solidFill>
                  <a:srgbClr val="BECAD7"/>
                </a:solidFill>
              </a:defRPr>
            </a:pPr>
            <a:r>
              <a:t>UCI Online Retail II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Business Problem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Business problem: understand revenue performance, product and market concentration, customer value, and cancellation/return patterns.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Dataset: UCI Online Retail II — transactional retail data covering December 2009 to December 2010 (December 2010 is partial).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Cleaning: removed exact duplicates; removed rows with missing Description and zero Price; excluded negative-price bad-debt adjustments from sales analysis.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Analysis-ready sales data: positive prices, non-zero quantities, revenue calculated as Quantity × Price.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Anonymous transactions were retained for overall sales analysis but excluded from customer-level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468880" cy="1234440"/>
          </a:xfrm>
          <a:prstGeom prst="roundRect">
            <a:avLst/>
          </a:prstGeom>
          <a:solidFill>
            <a:srgbClr val="23374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ECAD7"/>
                </a:solidFill>
              </a:defRPr>
            </a:pPr>
            <a:r>
              <a:t>Net revenue</a:t>
            </a:r>
          </a:p>
          <a:p>
            <a:pPr algn="ctr">
              <a:defRPr sz="2400" b="1">
                <a:solidFill>
                  <a:srgbClr val="F5F7FA"/>
                </a:solidFill>
              </a:defRPr>
            </a:pPr>
            <a:r>
              <a:t>£9.64M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828800"/>
            <a:ext cx="2468880" cy="1234440"/>
          </a:xfrm>
          <a:prstGeom prst="roundRect">
            <a:avLst/>
          </a:prstGeom>
          <a:solidFill>
            <a:srgbClr val="23374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ECAD7"/>
                </a:solidFill>
              </a:defRPr>
            </a:pPr>
            <a:r>
              <a:t>Positive sales</a:t>
            </a:r>
          </a:p>
          <a:p>
            <a:pPr algn="ctr">
              <a:defRPr sz="2400" b="1">
                <a:solidFill>
                  <a:srgbClr val="F5F7FA"/>
                </a:solidFill>
              </a:defRPr>
            </a:pPr>
            <a:r>
              <a:t>£10.27M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828800"/>
            <a:ext cx="2468880" cy="1234440"/>
          </a:xfrm>
          <a:prstGeom prst="roundRect">
            <a:avLst/>
          </a:prstGeom>
          <a:solidFill>
            <a:srgbClr val="23374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ECAD7"/>
                </a:solidFill>
              </a:defRPr>
            </a:pPr>
            <a:r>
              <a:t>Top-10 customer share</a:t>
            </a:r>
          </a:p>
          <a:p>
            <a:pPr algn="ctr">
              <a:defRPr sz="2400" b="1">
                <a:solidFill>
                  <a:srgbClr val="F5F7FA"/>
                </a:solidFill>
              </a:defRPr>
            </a:pPr>
            <a:r>
              <a:t>16.68%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828800"/>
            <a:ext cx="2468880" cy="1234440"/>
          </a:xfrm>
          <a:prstGeom prst="roundRect">
            <a:avLst/>
          </a:prstGeom>
          <a:solidFill>
            <a:srgbClr val="23374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ECAD7"/>
                </a:solidFill>
              </a:defRPr>
            </a:pPr>
            <a:r>
              <a:t>UK revenue share</a:t>
            </a:r>
          </a:p>
          <a:p>
            <a:pPr algn="ctr">
              <a:defRPr sz="2400" b="1">
                <a:solidFill>
                  <a:srgbClr val="F5F7FA"/>
                </a:solidFill>
              </a:defRPr>
            </a:pPr>
            <a:r>
              <a:t>~86%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</a:defRPr>
            </a:pPr>
            <a:r>
              <a:t>Revenue accelerated strongly in September–November 2010, with November the highest full month at ~£1.42M.</a:t>
            </a:r>
          </a:p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</a:defRPr>
            </a:pPr>
            <a:r>
              <a:t>The UK dominates revenue; international markets are much smaller individually.</a:t>
            </a:r>
          </a:p>
          <a:p>
            <a:pPr>
              <a:spcAft>
                <a:spcPts val="1400"/>
              </a:spcAft>
              <a:defRPr sz="1700">
                <a:solidFill>
                  <a:srgbClr val="F5F7FA"/>
                </a:solidFill>
              </a:defRPr>
            </a:pPr>
            <a:r>
              <a:t>Revenue is not extremely concentrated among the largest customers: the top 10 contribute 16.68% of customer-attributed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Product &amp; Cancellation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REGENCY CAKESTAND 3 TIER is the #1 product by net revenue at ~£162.9K.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It also has the highest product-related cancellation value among the leading products at about -£7.0K.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Among top-selling products, its cancellation-value rate is about 4.14%, higher than the other major sellers reviewed.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</a:defRPr>
            </a:pPr>
            <a:r>
              <a:t>Important interpretation: negative-quantity transactions include cancellations and operational adjustments, so they should not be treated as confirmed product defects.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Recommendations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1. Investigate Regency Cakestand 3 Tier cancellations — owner: Product/Operations. Review order, fulfillment and cancellation reasons; track cancellation-value rate.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2. Protect the UK core while expanding selected international markets — owner: Commercial/Marketing. Prioritize EIRE, Netherlands, Germany and France; track monthly revenue and repeat sales.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</a:defRPr>
            </a:pPr>
            <a:r>
              <a:t>3. Strengthen customer retention and cross-sell — owner: CRM/Marketing. Segment known customers by revenue/value and target high-value customers; track repeat purchase rate and customer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Dashboard, Limitations &amp; Next Steps</a:t>
            </a:r>
          </a:p>
        </p:txBody>
      </p:sp>
      <p:pic>
        <p:nvPicPr>
          <p:cNvPr id="3" name="Picture 2" descr="1264c87f-8aea-4c06-abe7-becf33016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949440" cy="37143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32588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5F7FA"/>
                </a:solidFill>
              </a:defRPr>
            </a:pPr>
            <a:r>
              <a:t>Dashboard: KPI summary, monthly revenue trend, country revenue, product revenue and top-customer revenue.</a:t>
            </a:r>
          </a:p>
          <a:p>
            <a:pPr>
              <a:spcAft>
                <a:spcPts val="1400"/>
              </a:spcAft>
              <a:defRPr sz="1400">
                <a:solidFill>
                  <a:srgbClr val="F5F7FA"/>
                </a:solidFill>
              </a:defRPr>
            </a:pPr>
            <a:r>
              <a:t>Limitations: customer ID is missing for ~20.8% of cleaned rows; this limits customer-level conclusions.</a:t>
            </a:r>
          </a:p>
          <a:p>
            <a:pPr>
              <a:spcAft>
                <a:spcPts val="1400"/>
              </a:spcAft>
              <a:defRPr sz="1400">
                <a:solidFill>
                  <a:srgbClr val="F5F7FA"/>
                </a:solidFill>
              </a:defRPr>
            </a:pPr>
            <a:r>
              <a:t>Negative transactions combine product cancellations/returns and operational/financial adjustments.</a:t>
            </a:r>
          </a:p>
          <a:p>
            <a:pPr>
              <a:spcAft>
                <a:spcPts val="1400"/>
              </a:spcAft>
              <a:defRPr sz="1400">
                <a:solidFill>
                  <a:srgbClr val="F5F7FA"/>
                </a:solidFill>
              </a:defRPr>
            </a:pPr>
            <a:r>
              <a:t>December 2010 is partial, so it should not be compared directly with complete months.</a:t>
            </a:r>
          </a:p>
          <a:p>
            <a:pPr>
              <a:spcAft>
                <a:spcPts val="1400"/>
              </a:spcAft>
              <a:defRPr sz="1400">
                <a:solidFill>
                  <a:srgbClr val="F5F7FA"/>
                </a:solidFill>
              </a:defRPr>
            </a:pPr>
            <a:r>
              <a:t>Next step: reproduce the dashboard in Google Looker Studio as required by the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